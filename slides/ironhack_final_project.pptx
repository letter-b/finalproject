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-200" kern="0" dirty="0">
                <a:solidFill>
                  <a:srgbClr val="E07B54"/>
                </a:solidFill>
              </a:rPr>
              <a:t>62,000,000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E0E0E0"/>
                </a:solidFill>
              </a:rPr>
              <a:t>TONNES OF E-WASTE — EVERY YEAR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834640"/>
            <a:ext cx="2377440" cy="1188720"/>
          </a:xfrm>
          <a:prstGeom prst="rect">
            <a:avLst/>
          </a:prstGeom>
          <a:solidFill>
            <a:srgbClr val="6287A6">
              <a:alpha val="80000"/>
            </a:srgbClr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$91B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raw materials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generated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2834640"/>
            <a:ext cx="2377440" cy="1188720"/>
          </a:xfrm>
          <a:prstGeom prst="rect">
            <a:avLst/>
          </a:prstGeom>
          <a:solidFill>
            <a:srgbClr val="6287A6">
              <a:alpha val="80000"/>
            </a:srgbClr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$19B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actually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recovered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2834640"/>
            <a:ext cx="2377440" cy="1188720"/>
          </a:xfrm>
          <a:prstGeom prst="rect">
            <a:avLst/>
          </a:prstGeom>
          <a:solidFill>
            <a:srgbClr val="E07B54">
              <a:alpha val="90000"/>
            </a:srgbClr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2880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B54"/>
                </a:solidFill>
              </a:rPr>
              <a:t>79%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3520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of value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lost forever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6666"/>
                </a:solidFill>
              </a:rPr>
              <a:t>UN Global E-waste Monitor, 2024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B54"/>
                </a:solidFill>
              </a:rPr>
              <a:t>The Villain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B3C"/>
                </a:solidFill>
              </a:rPr>
              <a:t>The Clearance Markdown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37260" y="1737360"/>
            <a:ext cx="1645920" cy="822960"/>
          </a:xfrm>
          <a:prstGeom prst="rect">
            <a:avLst/>
          </a:prstGeom>
          <a:solidFill>
            <a:srgbClr val="6287A6">
              <a:alpha val="80000"/>
            </a:srgbClr>
          </a:solidFill>
          <a:ln w="12700">
            <a:solidFill>
              <a:srgbClr val="6287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3726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3C"/>
                </a:solidFill>
              </a:rPr>
              <a:t>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726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Listed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3726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Month 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3180" y="2112264"/>
            <a:ext cx="228600" cy="73152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1780" y="1737360"/>
            <a:ext cx="1645920" cy="822960"/>
          </a:xfrm>
          <a:prstGeom prst="rect">
            <a:avLst/>
          </a:prstGeom>
          <a:solidFill>
            <a:srgbClr val="6287A6">
              <a:alpha val="80000"/>
            </a:srgbClr>
          </a:solidFill>
          <a:ln w="12700">
            <a:solidFill>
              <a:srgbClr val="6287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1178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3C"/>
                </a:solidFill>
              </a:rPr>
              <a:t>−25%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1178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</a:rPr>
              <a:t>Initial discount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1178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Months 3–6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57700" y="2112264"/>
            <a:ext cx="228600" cy="73152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6300" y="1737360"/>
            <a:ext cx="1645920" cy="822960"/>
          </a:xfrm>
          <a:prstGeom prst="rect">
            <a:avLst/>
          </a:prstGeom>
          <a:solidFill>
            <a:srgbClr val="E07B54">
              <a:alpha val="80000"/>
            </a:srgbClr>
          </a:solidFill>
          <a:ln w="12700">
            <a:solidFill>
              <a:srgbClr val="E07B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863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−50%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8630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</a:rPr>
              <a:t>Deeper discount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8630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Months 6–9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32220" y="2112264"/>
            <a:ext cx="228600" cy="73152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60820" y="1737360"/>
            <a:ext cx="1645920" cy="822960"/>
          </a:xfrm>
          <a:prstGeom prst="rect">
            <a:avLst/>
          </a:prstGeom>
          <a:solidFill>
            <a:srgbClr val="E07B54">
              <a:alpha val="80000"/>
            </a:srgbClr>
          </a:solidFill>
          <a:ln w="12700">
            <a:solidFill>
              <a:srgbClr val="E07B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6082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−75%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6082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</a:rPr>
              <a:t>Clearance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60820" y="26517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</a:rPr>
              <a:t>Months 9–12+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1089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</a:rPr>
              <a:t>30% of retail inventory gets marked down annually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</a:rPr>
              <a:t>$300B in markdown costs in the US alone (Coresight Research)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</a:rPr>
              <a:t>Products are discarded sooner — accelerating the e-waste cycle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07B54"/>
                </a:solidFill>
              </a:rPr>
              <a:t>The deeper the markdown, the faster the disposal.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48A81"/>
                </a:solidFill>
              </a:rPr>
              <a:t>The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if we rented instead?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2926080"/>
          </a:xfrm>
          <a:prstGeom prst="rect">
            <a:avLst/>
          </a:prstGeom>
          <a:solidFill>
            <a:srgbClr val="252F3F"/>
          </a:solidFill>
          <a:ln w="19050">
            <a:solidFill>
              <a:srgbClr val="E07B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657600" cy="73152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07B54"/>
                </a:solidFill>
              </a:rPr>
              <a:t>CLEARANCE MARKDOWN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</a:rPr>
              <a:t>One-time, shrinking payout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</a:rPr>
              <a:t>Product leaves your control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</a:rPr>
              <a:t>Zero incentive for durability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</a:rPr>
              <a:t>Accelerates disposal &amp; e-waste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463040"/>
            <a:ext cx="3657600" cy="2926080"/>
          </a:xfrm>
          <a:prstGeom prst="rect">
            <a:avLst/>
          </a:prstGeom>
          <a:solidFill>
            <a:srgbClr val="112827"/>
          </a:solidFill>
          <a:ln w="19050">
            <a:solidFill>
              <a:srgbClr val="048A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463040"/>
            <a:ext cx="3657600" cy="73152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8A81"/>
                </a:solidFill>
              </a:rPr>
              <a:t>RENTAL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21031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</a:rPr>
              <a:t>Recurring revenue — per rental cycle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</a:rPr>
              <a:t>Product stays in your ecosystem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</a:rPr>
              <a:t>Durability = profit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0E0E0"/>
                </a:solidFill>
              </a:rPr>
              <a:t>Fewer discards, less e-waste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2651760"/>
            <a:ext cx="640080" cy="548640"/>
          </a:xfrm>
          <a:prstGeom prst="oval">
            <a:avLst/>
          </a:prstGeom>
          <a:solidFill>
            <a:srgbClr val="1A2B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</a:rPr>
              <a:t>Enshitification stops when products need to last longer to be rented more.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287A6"/>
                </a:solidFill>
              </a:rPr>
              <a:t>The Data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C"/>
                </a:solidFill>
              </a:rPr>
              <a:t>Synthetic but Defensible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737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287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54480"/>
            <a:ext cx="1737360" cy="411480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Data Generation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500 products · 2,000 customers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14 categories · 1,604 rentals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40280" y="2295144"/>
            <a:ext cx="210312" cy="73152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1554480"/>
            <a:ext cx="1737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287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554480"/>
            <a:ext cx="1737360" cy="411480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50592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EDA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2423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Seasonality · Win rate preview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Repeat renters · Price tiers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87952" y="2295144"/>
            <a:ext cx="210312" cy="73152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98264" y="1554480"/>
            <a:ext cx="1737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287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98264" y="1554480"/>
            <a:ext cx="1737360" cy="411480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98264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98264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A/B Testing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9704" y="2423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Welch t-test · ANOVA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Bootstrap CI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35624" y="2295144"/>
            <a:ext cx="210312" cy="73152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45936" y="1554480"/>
            <a:ext cx="1737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287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45936" y="1554480"/>
            <a:ext cx="1737360" cy="411480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45936" y="15727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45936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Machine Learning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37376" y="2423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Random Forest · Linear Reg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</a:rPr>
              <a:t>Logistic Churn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MySQL  ›  8 Tables · 4 Views · Live SQLAlchemy Connection  ›  Power BI Dashboard  ›  Tableau Dashboard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8A81"/>
                </a:solidFill>
              </a:rPr>
              <a:t>500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Products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7744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8A81"/>
                </a:solidFill>
              </a:rPr>
              <a:t>2,000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237744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Customers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9768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8A81"/>
                </a:solidFill>
              </a:rPr>
              <a:t>1,604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429768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Rental transactions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4206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48A81"/>
                </a:solidFill>
              </a:rPr>
              <a:t>4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217920" y="46634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Notebooks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48A81"/>
                </a:solidFill>
              </a:rPr>
              <a:t>The 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Rental wins — by every measure.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20240" cy="1645920"/>
          </a:xfrm>
          <a:prstGeom prst="rect">
            <a:avLst/>
          </a:prstGeom>
          <a:solidFill>
            <a:srgbClr val="0D2B29"/>
          </a:solidFill>
          <a:ln w="19050">
            <a:solidFill>
              <a:srgbClr val="048A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1920240" cy="54864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48A81"/>
                </a:solidFill>
              </a:rPr>
              <a:t>60%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Win 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(Rental beats markdown)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508760"/>
            <a:ext cx="1920240" cy="1645920"/>
          </a:xfrm>
          <a:prstGeom prst="rect">
            <a:avLst/>
          </a:prstGeom>
          <a:solidFill>
            <a:srgbClr val="1A2535"/>
          </a:solidFill>
          <a:ln w="19050">
            <a:solidFill>
              <a:srgbClr val="6287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1508760"/>
            <a:ext cx="1920240" cy="54864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645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287A6"/>
                </a:solidFill>
              </a:rPr>
              <a:t>2.46×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56032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Gross Revenue Ratio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(rental vs clearance price)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1920240" cy="1645920"/>
          </a:xfrm>
          <a:prstGeom prst="rect">
            <a:avLst/>
          </a:prstGeom>
          <a:solidFill>
            <a:srgbClr val="1A2535"/>
          </a:solidFill>
          <a:ln w="19050">
            <a:solidFill>
              <a:srgbClr val="6287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508760"/>
            <a:ext cx="1920240" cy="54864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645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287A6"/>
                </a:solidFill>
              </a:rPr>
              <a:t>1.40×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6344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Net Ratio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after all operational costs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508760"/>
            <a:ext cx="1920240" cy="1645920"/>
          </a:xfrm>
          <a:prstGeom prst="rect">
            <a:avLst/>
          </a:prstGeom>
          <a:solidFill>
            <a:srgbClr val="2B1A12"/>
          </a:solidFill>
          <a:ln w="19050">
            <a:solidFill>
              <a:srgbClr val="E07B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508760"/>
            <a:ext cx="1920240" cy="54864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16459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07B54"/>
                </a:solidFill>
              </a:rPr>
              <a:t>100%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76656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Monte Carlo simulations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where rental won (of 10,000)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E0E0"/>
                </a:solidFill>
              </a:rPr>
              <a:t>Win Rate by Category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3474720"/>
            <a:ext cx="2926080" cy="256032"/>
          </a:xfrm>
          <a:prstGeom prst="rect">
            <a:avLst/>
          </a:prstGeom>
          <a:solidFill>
            <a:srgbClr val="253040"/>
          </a:solidFill>
          <a:ln w="12700">
            <a:solidFill>
              <a:srgbClr val="2530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3474720"/>
            <a:ext cx="2106778" cy="256032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564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Smartphones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83450" y="34747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8A81"/>
                </a:solidFill>
              </a:rPr>
              <a:t>72%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03520" y="3822192"/>
            <a:ext cx="2926080" cy="256032"/>
          </a:xfrm>
          <a:prstGeom prst="rect">
            <a:avLst/>
          </a:prstGeom>
          <a:solidFill>
            <a:srgbClr val="253040"/>
          </a:solidFill>
          <a:ln w="12700">
            <a:solidFill>
              <a:srgbClr val="2530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3822192"/>
            <a:ext cx="2018995" cy="256032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803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Gaming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95667" y="382219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8A81"/>
                </a:solidFill>
              </a:rPr>
              <a:t>69%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303520" y="4169664"/>
            <a:ext cx="2926080" cy="256032"/>
          </a:xfrm>
          <a:prstGeom prst="rect">
            <a:avLst/>
          </a:prstGeom>
          <a:solidFill>
            <a:srgbClr val="253040"/>
          </a:solidFill>
          <a:ln w="12700">
            <a:solidFill>
              <a:srgbClr val="2530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4169664"/>
            <a:ext cx="1901952" cy="256032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15137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Laptops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78624" y="41696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8A81"/>
                </a:solidFill>
              </a:rPr>
              <a:t>65%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03520" y="4517136"/>
            <a:ext cx="2926080" cy="256032"/>
          </a:xfrm>
          <a:prstGeom prst="rect">
            <a:avLst/>
          </a:prstGeom>
          <a:solidFill>
            <a:srgbClr val="253040"/>
          </a:solidFill>
          <a:ln w="12700">
            <a:solidFill>
              <a:srgbClr val="2530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4517136"/>
            <a:ext cx="1784909" cy="256032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4988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Appliances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61581" y="45171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8A81"/>
                </a:solidFill>
              </a:rPr>
              <a:t>61%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03520" y="4864608"/>
            <a:ext cx="2926080" cy="256032"/>
          </a:xfrm>
          <a:prstGeom prst="rect">
            <a:avLst/>
          </a:prstGeom>
          <a:solidFill>
            <a:srgbClr val="253040"/>
          </a:solidFill>
          <a:ln w="12700">
            <a:solidFill>
              <a:srgbClr val="2530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0" y="4864608"/>
            <a:ext cx="1697126" cy="256032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46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0E0E0"/>
                </a:solidFill>
              </a:rPr>
              <a:t>Peripherals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73798" y="486460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8A81"/>
                </a:solidFill>
              </a:rPr>
              <a:t>58%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59168" y="3246120"/>
            <a:ext cx="18288" cy="192024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32186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7B54"/>
                </a:solidFill>
              </a:rPr>
              <a:t>60%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E07B54"/>
                </a:solidFill>
              </a:rPr>
              <a:t>threshold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7B54"/>
                </a:solidFill>
              </a:rPr>
              <a:t>When Rental Loses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C"/>
                </a:solidFill>
              </a:rPr>
              <a:t>The ML Model Earns Its Place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23774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48A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08760"/>
            <a:ext cx="2377440" cy="54864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18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8A81"/>
                </a:solidFill>
              </a:rPr>
              <a:t>OPTIMISTIC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Ops cost: 10%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No-return: 4%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8A81"/>
                </a:solidFill>
              </a:rPr>
              <a:t>Win rate: ~67%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23774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287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508760"/>
            <a:ext cx="2377440" cy="54864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618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287A6"/>
                </a:solidFill>
              </a:rPr>
              <a:t>REALISTIC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Ops cost: 18%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No-return: 6.3%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87A6"/>
                </a:solidFill>
              </a:rPr>
              <a:t>Win rate: ~60%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1508760"/>
            <a:ext cx="237744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508760"/>
            <a:ext cx="2377440" cy="54864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6184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07B54"/>
                </a:solidFill>
              </a:rPr>
              <a:t>PESSIMISTIC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Ops cost: 28%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B3C"/>
                </a:solidFill>
              </a:rPr>
              <a:t>No-return: 8%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B54"/>
                </a:solidFill>
              </a:rPr>
              <a:t>Win rate: ~51%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Monte Carlo · 10,000 simulations: rental wins in 100% of runs · Median net ratio 1.40×  (range: 1.22× – 1.58×)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</a:rPr>
              <a:t>The model tests the upper bound. Even under stress, rental generates 40% more revenue than clearance.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287A6"/>
                </a:solidFill>
              </a:rPr>
              <a:t>The ML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Random Forest Profitability Classifier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2560320"/>
          </a:xfrm>
          <a:prstGeom prst="rect">
            <a:avLst/>
          </a:prstGeom>
          <a:solidFill>
            <a:srgbClr val="1E2E3E"/>
          </a:solidFill>
          <a:ln w="19050">
            <a:solidFill>
              <a:srgbClr val="6287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287A6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0E0E0"/>
                </a:solidFill>
              </a:rPr>
              <a:t>Profitability Classifier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Predicts: Will this rental beat markdown?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79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Accuracy: ~85%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72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Top feature: months_unsold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465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Prevents bad rental decisions at intake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371600"/>
            <a:ext cx="2560320" cy="2560320"/>
          </a:xfrm>
          <a:prstGeom prst="rect">
            <a:avLst/>
          </a:prstGeom>
          <a:solidFill>
            <a:srgbClr val="1E2E3E"/>
          </a:solidFill>
          <a:ln w="19050">
            <a:solidFill>
              <a:srgbClr val="048A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8A81"/>
                </a:solidFill>
              </a:rPr>
              <a:t>Linear Regression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0E0E0"/>
                </a:solidFill>
              </a:rPr>
              <a:t>Revenue Forecast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Predicts: Expected rental revenue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679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Input: price tier, category, duration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072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Output: €/rental estimate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465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Helps price new product types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371600"/>
            <a:ext cx="2560320" cy="2560320"/>
          </a:xfrm>
          <a:prstGeom prst="rect">
            <a:avLst/>
          </a:prstGeom>
          <a:solidFill>
            <a:srgbClr val="1E2E3E"/>
          </a:solidFill>
          <a:ln w="19050">
            <a:solidFill>
              <a:srgbClr val="E07B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371600"/>
            <a:ext cx="2560320" cy="54864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54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2648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0E0E0"/>
                </a:solidFill>
              </a:rPr>
              <a:t>Churn Risk 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Predicts: Customer churn probability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26791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Business segment: lowest risk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072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Student + casual: highest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46557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</a:rPr>
              <a:t>Drives retention priority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AAAA"/>
                </a:solidFill>
              </a:rPr>
              <a:t>Decision logic: months_unsold × price_tier × ops_cost → RENT or CLEAR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Notebook 04: Random Forest · Linear Regression · Logistic Regression · Sensitivity · Monte Carlo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48A81"/>
                </a:solidFill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C"/>
                </a:solidFill>
              </a:rPr>
              <a:t>The Pipeline in Real Time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0467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6287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572768"/>
            <a:ext cx="438912" cy="438912"/>
          </a:xfrm>
          <a:prstGeom prst="oval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1790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Show Notebooks 01 → 04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1051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Walk through the 4 notebooks — data gen, EDA, A/B tests, 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80467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6287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86000"/>
            <a:ext cx="438912" cy="438912"/>
          </a:xfrm>
          <a:prstGeom prst="oval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231136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Show Power BI Dashboard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52374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Live MySQL connection · 5 visuals · DAX measures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80467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48A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2999232"/>
            <a:ext cx="438912" cy="438912"/>
          </a:xfrm>
          <a:prstGeom prst="oval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992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94436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Run 01B — Regenerate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23697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750 products, 2,500 customers, new seed → MySQL updates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02736"/>
            <a:ext cx="80467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048A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3712464"/>
            <a:ext cx="438912" cy="438912"/>
          </a:xfrm>
          <a:prstGeom prst="oval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6576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Hit Refresh → Dashboard Updates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95020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Total Rentals, Win Rate, Avg Ratio — all recalculate live 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315968"/>
            <a:ext cx="80467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07B5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4425696"/>
            <a:ext cx="438912" cy="438912"/>
          </a:xfrm>
          <a:prstGeom prst="oval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25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370832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3C"/>
                </a:solidFill>
              </a:rPr>
              <a:t>Run live_feed.py from Terminal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66344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Inserts 1 batch every 30s · auto-stops after 3 min · countdown live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99999"/>
                </a:solidFill>
              </a:rPr>
              <a:t>Total demo time: ~3 minutes  ·  Fully controlled  ·  Auto-stops after 3 min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48A81"/>
                </a:solidFill>
              </a:rPr>
              <a:t>The Bigger Picture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Enshitification Stops Here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468880" cy="2377440"/>
          </a:xfrm>
          <a:prstGeom prst="rect">
            <a:avLst/>
          </a:prstGeom>
          <a:solidFill>
            <a:srgbClr val="1E2E3E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361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♻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1214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8A81"/>
                </a:solidFill>
              </a:rPr>
              <a:t>The Rental Incentive Flip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Markdown: dispose faster, sell cheaper.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Rental: keep longer, earn more.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The model changes what durability is worth.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468880" cy="2377440"/>
          </a:xfrm>
          <a:prstGeom prst="rect">
            <a:avLst/>
          </a:prstGeom>
          <a:solidFill>
            <a:srgbClr val="1E2E3E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5361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21214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8A81"/>
                </a:solidFill>
              </a:rPr>
              <a:t>Enshitification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Products degrade because incentives reward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replacement over quality.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Rental aligns profit with product lifespan.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468880" cy="2377440"/>
          </a:xfrm>
          <a:prstGeom prst="rect">
            <a:avLst/>
          </a:prstGeom>
          <a:solidFill>
            <a:srgbClr val="1E2E3E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53619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1214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8A81"/>
                </a:solidFill>
              </a:rPr>
              <a:t>E-waste Connection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6060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62M tonnes/yr. Every extra rental cycle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extends a product's life.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0E0E0"/>
                </a:solidFill>
              </a:rPr>
              <a:t>Small shift in model = large shift in impact.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112827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E0E0"/>
                </a:solidFill>
              </a:rPr>
              <a:t>"The business model that makes products last longer is not an environmental policy — it's just better economics."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287A6"/>
                </a:solidFill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3C"/>
                </a:solidFill>
              </a:rPr>
              <a:t>Next Steps &amp; Stretch Goals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287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3931920" cy="54864"/>
          </a:xfrm>
          <a:prstGeom prst="rect">
            <a:avLst/>
          </a:prstGeom>
          <a:solidFill>
            <a:srgbClr val="6287A6"/>
          </a:solidFill>
          <a:ln w="12700">
            <a:solidFill>
              <a:srgbClr val="6287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72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287A6"/>
                </a:solidFill>
              </a:rPr>
              <a:t>IMMEDIATE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Real data pilot — replace synthetic layer with POS/CRM API calls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Deploy live_feed.py to cloud (Railway / Render free tier)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Make Notion project page public for portfolio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50876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8A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08760"/>
            <a:ext cx="3931920" cy="54864"/>
          </a:xfrm>
          <a:prstGeom prst="rect">
            <a:avLst/>
          </a:prstGeom>
          <a:solidFill>
            <a:srgbClr val="048A81"/>
          </a:solidFill>
          <a:ln w="12700">
            <a:solidFill>
              <a:srgbClr val="048A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5727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8A81"/>
                </a:solidFill>
              </a:rPr>
              <a:t>STRETCH GOALS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Flask API — /api/rental_stats public endpoint over live MySQL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Interactive data entry form — rental vs markdown verdict on submit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703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</a:rPr>
              <a:t>Full production pipeline: real source → Python → MySQL → Power BI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The downstream stack — MySQL schema, views, Power BI live connection — is already production-ready.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Clearance to Revenue — Retail Rental Analytics</dc:title>
  <dc:subject>PptxGenJS Presentation</dc:subject>
  <dc:creator>Ironhack Final Project</dc:creator>
  <cp:lastModifiedBy>Ironhack Final Project</cp:lastModifiedBy>
  <cp:revision>1</cp:revision>
  <dcterms:created xsi:type="dcterms:W3CDTF">2026-04-13T13:11:02Z</dcterms:created>
  <dcterms:modified xsi:type="dcterms:W3CDTF">2026-04-13T13:11:02Z</dcterms:modified>
</cp:coreProperties>
</file>